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266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3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586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750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4741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22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127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81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74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475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362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615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945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86860" y="1371600"/>
            <a:ext cx="6170279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dirty="0">
                <a:solidFill>
                  <a:srgbClr val="FFFF00"/>
                </a:solidFill>
              </a:rPr>
              <a:t>ChatBot with PDF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61602" y="2560320"/>
            <a:ext cx="642079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dirty="0">
                <a:solidFill>
                  <a:srgbClr val="FFFF00"/>
                </a:solidFill>
              </a:rPr>
              <a:t>AI-Powered Document Intelligence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1391" y="3618963"/>
            <a:ext cx="402123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 lang="en-US" sz="2400" dirty="0">
                <a:solidFill>
                  <a:srgbClr val="FFFF00"/>
                </a:solidFill>
              </a:rPr>
              <a:t>JULIUS GODWIN KANYAMA</a:t>
            </a:r>
            <a:endParaRPr sz="2400" dirty="0">
              <a:solidFill>
                <a:srgbClr val="FFFF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89F299-6F0C-40F7-AB09-E7FA0309D357}"/>
              </a:ext>
            </a:extLst>
          </p:cNvPr>
          <p:cNvSpPr txBox="1"/>
          <p:nvPr/>
        </p:nvSpPr>
        <p:spPr>
          <a:xfrm>
            <a:off x="3600131" y="3988295"/>
            <a:ext cx="142859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 lang="en-US" sz="2400" dirty="0">
                <a:solidFill>
                  <a:srgbClr val="FFFF00"/>
                </a:solidFill>
              </a:rPr>
              <a:t>20234128</a:t>
            </a:r>
            <a:endParaRPr dirty="0">
              <a:solidFill>
                <a:srgbClr val="FFFF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99B1DE-BAFA-469C-A155-1A4B5DE6218E}"/>
              </a:ext>
            </a:extLst>
          </p:cNvPr>
          <p:cNvSpPr txBox="1"/>
          <p:nvPr/>
        </p:nvSpPr>
        <p:spPr>
          <a:xfrm>
            <a:off x="2977814" y="4762266"/>
            <a:ext cx="318837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 lang="en-US" sz="2400" dirty="0">
                <a:solidFill>
                  <a:srgbClr val="FFFF00"/>
                </a:solidFill>
              </a:rPr>
              <a:t>DR RAMIZ M. SALAMA</a:t>
            </a:r>
            <a:endParaRPr sz="2400" dirty="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An intelligent chatbot that allows users to have conversations with their documents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Supports multiple formats: PDF, DOCX, PPTX, and images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Uses AI to understand document content and provide accurate answers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Features include multi-document chat, folders, and precise page citations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Built with modern full-stack technologies and RAG (Retrieval-Augmented Generation)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 dirty="0"/>
              <a:t>Frontend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endParaRPr dirty="0"/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/>
              <a:t>• React + Vite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/>
              <a:t>• Tailwind CSS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/>
              <a:t>• PDF.js Viewer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/>
              <a:t>• Responsive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657600" cy="1645920"/>
          </a:xfrm>
          <a:prstGeom prst="rect">
            <a:avLst/>
          </a:prstGeom>
          <a:solidFill>
            <a:srgbClr val="2563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Frontend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endParaRPr dirty="0"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React + Vite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Tailwind CSS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PDF.js Viewer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Responsive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1645920"/>
            <a:ext cx="3657600" cy="1645920"/>
          </a:xfrm>
          <a:prstGeom prst="rect">
            <a:avLst/>
          </a:prstGeom>
          <a:solidFill>
            <a:srgbClr val="10B9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Backend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endParaRPr dirty="0"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Node.js + Express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MongoDB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OpenAI API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rPr dirty="0"/>
              <a:t>• JWT Auth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40480"/>
            <a:ext cx="3657600" cy="1371600"/>
          </a:xfrm>
          <a:prstGeom prst="rect">
            <a:avLst/>
          </a:prstGeom>
          <a:solidFill>
            <a:srgbClr val="47556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0">
                <a:solidFill>
                  <a:srgbClr val="FFFFFF"/>
                </a:solidFill>
              </a:defRPr>
            </a:pPr>
            <a:r>
              <a:t>Database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User Documents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Conversations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Vector Embeddings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840480"/>
            <a:ext cx="3657600" cy="1371600"/>
          </a:xfrm>
          <a:prstGeom prst="rect">
            <a:avLst/>
          </a:prstGeom>
          <a:solidFill>
            <a:srgbClr val="A855F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0">
                <a:solidFill>
                  <a:srgbClr val="FFFFFF"/>
                </a:solidFill>
              </a:defRPr>
            </a:pPr>
            <a:r>
              <a:t>AI Services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endParaRPr/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GPT-3.5 Turbo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Text Embeddings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• GPT-4 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352" y="91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rPr dirty="0"/>
              <a:t>How It Works: Document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76219"/>
            <a:ext cx="7315200" cy="640080"/>
          </a:xfrm>
          <a:prstGeom prst="rect">
            <a:avLst/>
          </a:prstGeom>
          <a:solidFill>
            <a:srgbClr val="2563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lang="en-US" dirty="0"/>
              <a:t>1. </a:t>
            </a:r>
            <a:r>
              <a:rPr lang="en-US" sz="1600" b="1" dirty="0"/>
              <a:t>User uploads PDF, PPT OR DOCX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53459"/>
            <a:ext cx="7315200" cy="640080"/>
          </a:xfrm>
          <a:prstGeom prst="rect">
            <a:avLst/>
          </a:prstGeom>
          <a:solidFill>
            <a:srgbClr val="10B9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2. Processing: Extract text using pdf-parse, Mammoth, or Tesseract OCR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30699"/>
            <a:ext cx="7315200" cy="640080"/>
          </a:xfrm>
          <a:prstGeom prst="rect">
            <a:avLst/>
          </a:prstGeom>
          <a:solidFill>
            <a:srgbClr val="2563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3. Chunking: Split text into 800-token chunks with 100-token overlap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307938"/>
            <a:ext cx="7315200" cy="640080"/>
          </a:xfrm>
          <a:prstGeom prst="rect">
            <a:avLst/>
          </a:prstGeom>
          <a:solidFill>
            <a:srgbClr val="10B9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dirty="0"/>
              <a:t>4. Embedding: Generate vector embeddings using OpenAI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085178"/>
            <a:ext cx="7315200" cy="640080"/>
          </a:xfrm>
          <a:prstGeom prst="rect">
            <a:avLst/>
          </a:prstGeom>
          <a:solidFill>
            <a:srgbClr val="2563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5. Storage: Save document metadata and embeddings to MongoDB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862418"/>
            <a:ext cx="7315200" cy="640080"/>
          </a:xfrm>
          <a:prstGeom prst="rect">
            <a:avLst/>
          </a:prstGeom>
          <a:solidFill>
            <a:srgbClr val="10B9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dirty="0"/>
              <a:t>6.</a:t>
            </a:r>
            <a:r>
              <a:rPr lang="en-US" dirty="0"/>
              <a:t> Store in vector DB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64017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rPr dirty="0"/>
              <a:t>How It Works: Chat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004220" cy="2349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sz="2400" b="1" dirty="0"/>
              <a:t>1</a:t>
            </a:r>
            <a:r>
              <a:rPr sz="2400" b="1" dirty="0"/>
              <a:t>. </a:t>
            </a:r>
            <a:r>
              <a:rPr lang="en-US" sz="2400" b="1" dirty="0"/>
              <a:t>User asks a question</a:t>
            </a:r>
          </a:p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sz="2400" b="1" dirty="0"/>
              <a:t>2</a:t>
            </a:r>
            <a:r>
              <a:rPr sz="2400" b="1" dirty="0"/>
              <a:t>. </a:t>
            </a:r>
            <a:r>
              <a:rPr lang="en-US" sz="2400" b="1" dirty="0"/>
              <a:t>Embed the question</a:t>
            </a:r>
          </a:p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sz="2400" b="1" dirty="0"/>
              <a:t>3</a:t>
            </a:r>
            <a:r>
              <a:rPr sz="2400" b="1" dirty="0"/>
              <a:t>.</a:t>
            </a:r>
            <a:r>
              <a:rPr lang="en-US" sz="2400" b="1" dirty="0"/>
              <a:t> Retrieve relevant chunks</a:t>
            </a:r>
          </a:p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sz="2400" b="1" dirty="0"/>
              <a:t>4</a:t>
            </a:r>
            <a:r>
              <a:rPr sz="2400" b="1" dirty="0"/>
              <a:t>. </a:t>
            </a:r>
            <a:r>
              <a:rPr lang="en-US" sz="2400" b="1" dirty="0"/>
              <a:t>Send chunks + question to LLM</a:t>
            </a:r>
          </a:p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sz="2400" b="1" dirty="0"/>
              <a:t>5. Answer grounded in PDF with page citations</a:t>
            </a:r>
            <a:endParaRPr sz="240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" y="9138"/>
            <a:ext cx="91440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563EB"/>
                </a:solidFill>
              </a:defRPr>
            </a:pPr>
            <a:r>
              <a:rPr dirty="0"/>
              <a:t>RAG System</a:t>
            </a:r>
            <a:endParaRPr lang="en-US" dirty="0"/>
          </a:p>
          <a:p>
            <a:pPr>
              <a:defRPr sz="3800" b="1">
                <a:solidFill>
                  <a:srgbClr val="2563EB"/>
                </a:solidFill>
              </a:defRPr>
            </a:pPr>
            <a:r>
              <a:rPr dirty="0"/>
              <a:t> (Retrieval-Augmented Generation)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26655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475569"/>
                </a:solidFill>
              </a:defRPr>
            </a:pPr>
            <a:r>
              <a:rPr dirty="0"/>
              <a:t>RAG combines information retrieval with AI generation to provide accurate, context-aware answers from your documents.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8945" y="2199710"/>
            <a:ext cx="777240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75569"/>
                </a:solidFill>
              </a:defRPr>
            </a:pPr>
            <a:r>
              <a:rPr sz="2000" dirty="0"/>
              <a:t>Retrieval: Semantic search finds relevant document sections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Uses vector embeddings (1536 dimensions)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Cosine similarity matching (threshold: 0.7)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Returns top 15 chunks ranked by relevance</a:t>
            </a:r>
          </a:p>
          <a:p>
            <a:endParaRPr sz="2000" dirty="0"/>
          </a:p>
          <a:p>
            <a:pPr>
              <a:defRPr sz="1800" b="1">
                <a:solidFill>
                  <a:srgbClr val="475569"/>
                </a:solidFill>
              </a:defRPr>
            </a:pPr>
            <a:r>
              <a:rPr sz="2000" dirty="0"/>
              <a:t>Augmentation: Retrieved content enhances AI's knowledge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Adds document context to the AI prompt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Includes page numbers and metadata</a:t>
            </a:r>
          </a:p>
          <a:p>
            <a:endParaRPr sz="2000" dirty="0"/>
          </a:p>
          <a:p>
            <a:pPr>
              <a:defRPr sz="1800" b="1">
                <a:solidFill>
                  <a:srgbClr val="475569"/>
                </a:solidFill>
              </a:defRPr>
            </a:pPr>
            <a:r>
              <a:rPr sz="2000" dirty="0"/>
              <a:t>Generation: AI creates accurate, cited responses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GPT-3.5 Turbo with temperature=0 (deterministic)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sz="1400" dirty="0"/>
              <a:t>  • Mandatory citation format enforced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t>Multi-Document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2819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rPr dirty="0"/>
              <a:t>Folder Organization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Group related documents into folders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Drag-and-drop document management</a:t>
            </a:r>
          </a:p>
          <a:p>
            <a:endParaRPr dirty="0"/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rPr dirty="0"/>
              <a:t>Parallel Search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Searches all documents in folder simultaneously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Retrieves top 10 chunks from each document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Selects best 15 chunks across all documents</a:t>
            </a:r>
          </a:p>
          <a:p>
            <a:endParaRPr dirty="0"/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rPr dirty="0"/>
              <a:t>Source Attribution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Citations include document name + page number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Example: [research_paper.pdf - Page 12]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Click citation to view exact source</a:t>
            </a:r>
          </a:p>
          <a:p>
            <a:endParaRPr dirty="0"/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rPr dirty="0"/>
              <a:t>Smart Document Mapping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Ensures citations reference correct document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Handles MongoDB query ordering correctly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t>Intelligent Citation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75569"/>
                </a:solidFill>
              </a:defRPr>
            </a:pPr>
            <a:r>
              <a:t>Three Citation Formats: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t>• Single Document: [Page 5] or [Slide 10]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t>• Multi-Document: [filename.pdf - Page 5]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t>• Natural Language: 'as mentioned on page 31...'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58433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75569"/>
                </a:solidFill>
              </a:defRPr>
            </a:pPr>
            <a:r>
              <a:rPr dirty="0"/>
              <a:t>Key Features: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rPr dirty="0"/>
              <a:t>• All citations are clickable - jump directly to source page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rPr dirty="0"/>
              <a:t>• AI is required to include citations in every response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rPr dirty="0"/>
              <a:t>• Page numbers extracted from document metadata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</a:defRPr>
            </a:pPr>
            <a:r>
              <a:rPr dirty="0"/>
              <a:t>• Regex parsing identifies and formats citations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36576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rPr sz="3200" dirty="0"/>
              <a:t>Frontend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React 18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Vite (Build Tool)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Tailwind CSS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PDF.js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Mammoth.js (DOCX)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Framer Motion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React Router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Axios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4630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rPr dirty="0"/>
              <a:t>Backend &amp; AI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Node.js + Express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MongoDB + Mongoose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OpenAI GPT-3.5 Turbo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OpenAI Embeddings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GPT-4 Vision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JWT Authentication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pdf-parse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rPr dirty="0"/>
              <a:t>• Tesseract.js (OCR)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t>Advanced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69402"/>
            <a:ext cx="7772400" cy="777240"/>
          </a:xfrm>
          <a:prstGeom prst="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2000" dirty="0"/>
              <a:t>Image Extraction &amp; Captioning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rPr sz="1600" dirty="0"/>
              <a:t>Extracts images from PDFs and generates searchable captions using GPT-4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83802"/>
            <a:ext cx="7772400" cy="777240"/>
          </a:xfrm>
          <a:prstGeom prst="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2000" dirty="0"/>
              <a:t>Page-Specific Retrieval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rPr sz="1600" dirty="0"/>
              <a:t>Detects 'page 5' or 'slide 10' in questions and retrieves only relevant pages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98202"/>
            <a:ext cx="7772400" cy="777240"/>
          </a:xfrm>
          <a:prstGeom prst="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2000" dirty="0"/>
              <a:t>Question Classification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rPr sz="1600" dirty="0"/>
              <a:t>Determines if question is document-related or general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12602"/>
            <a:ext cx="7772400" cy="777240"/>
          </a:xfrm>
          <a:prstGeom prst="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2000" dirty="0"/>
              <a:t>Multi-Language Support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rPr sz="1600" dirty="0"/>
              <a:t>English and Turkish language interface with auto-detection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27002"/>
            <a:ext cx="7772400" cy="777240"/>
          </a:xfrm>
          <a:prstGeom prst="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2000" dirty="0"/>
              <a:t>Secure Authentication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rPr sz="1600" dirty="0"/>
              <a:t>JWT-based authentication with </a:t>
            </a:r>
            <a:r>
              <a:rPr sz="1600" dirty="0" err="1"/>
              <a:t>bcrypt</a:t>
            </a:r>
            <a:r>
              <a:rPr sz="1600" dirty="0"/>
              <a:t> password hashing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3262" y="91440"/>
            <a:ext cx="726468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563EB"/>
                </a:solidFill>
              </a:defRPr>
            </a:pPr>
            <a:r>
              <a:rPr sz="3600" dirty="0"/>
              <a:t>System Performance &amp;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8755" y="705177"/>
            <a:ext cx="7486489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75569"/>
                </a:solidFill>
              </a:defRPr>
            </a:pPr>
            <a:r>
              <a:rPr sz="2400" dirty="0"/>
              <a:t>Retrieval Accuracy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Cosine similarity threshold: 0.7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Top 15 most relevant chunks retrieved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Average response time: 2-3 seconds</a:t>
            </a:r>
          </a:p>
          <a:p>
            <a:endParaRPr sz="2000" dirty="0"/>
          </a:p>
          <a:p>
            <a:pPr>
              <a:defRPr sz="2000" b="1">
                <a:solidFill>
                  <a:srgbClr val="475569"/>
                </a:solidFill>
              </a:defRPr>
            </a:pPr>
            <a:r>
              <a:rPr sz="2400" dirty="0"/>
              <a:t>Citation Accuracy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citation requirement enforced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Page numbers verified against source documents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Multi-document source attribution working correctly</a:t>
            </a:r>
          </a:p>
          <a:p>
            <a:endParaRPr sz="2000" dirty="0"/>
          </a:p>
          <a:p>
            <a:pPr>
              <a:defRPr sz="2000" b="1">
                <a:solidFill>
                  <a:srgbClr val="475569"/>
                </a:solidFill>
              </a:defRPr>
            </a:pPr>
            <a:r>
              <a:rPr sz="2400" dirty="0"/>
              <a:t>Scalability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Vector embeddings cached in database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Batch embedding generation (100 per API call)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Async processing for document uploads</a:t>
            </a:r>
          </a:p>
          <a:p>
            <a:endParaRPr sz="2000" dirty="0"/>
          </a:p>
          <a:p>
            <a:pPr>
              <a:defRPr sz="2000" b="1">
                <a:solidFill>
                  <a:srgbClr val="475569"/>
                </a:solidFill>
              </a:defRPr>
            </a:pPr>
            <a:r>
              <a:rPr sz="2400" dirty="0"/>
              <a:t>User Experience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Responsive design for all screen sizes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Real-time loading indicators</a:t>
            </a:r>
          </a:p>
          <a:p>
            <a:pPr lvl="1">
              <a:defRPr sz="1600">
                <a:solidFill>
                  <a:srgbClr val="475569"/>
                </a:solidFill>
              </a:defRPr>
            </a:pPr>
            <a:r>
              <a:rPr dirty="0"/>
              <a:t>  • Smooth transitions and animations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0986" y="334851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rPr dirty="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32964"/>
            <a:ext cx="7315200" cy="3057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Successfully implemented a production-ready AI chatbot system</a:t>
            </a:r>
          </a:p>
          <a:p>
            <a:endParaRPr sz="1600" dirty="0"/>
          </a:p>
          <a:p>
            <a:pPr algn="l">
              <a:spcBef>
                <a:spcPts val="8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Demonstrates full-stack development with modern technologies</a:t>
            </a:r>
          </a:p>
          <a:p>
            <a:endParaRPr sz="1600" dirty="0"/>
          </a:p>
          <a:p>
            <a:pPr algn="l">
              <a:spcBef>
                <a:spcPts val="8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Advanced RAG system with semantic search and citations</a:t>
            </a:r>
          </a:p>
          <a:p>
            <a:endParaRPr sz="1600" dirty="0"/>
          </a:p>
          <a:p>
            <a:pPr algn="l">
              <a:spcBef>
                <a:spcPts val="8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Multi-document chat with accurate source attribution</a:t>
            </a:r>
          </a:p>
          <a:p>
            <a:endParaRPr sz="1600" dirty="0"/>
          </a:p>
          <a:p>
            <a:pPr algn="l">
              <a:spcBef>
                <a:spcPts val="800"/>
              </a:spcBef>
              <a:defRPr sz="2000">
                <a:solidFill>
                  <a:srgbClr val="475569"/>
                </a:solidFill>
              </a:defRPr>
            </a:pPr>
            <a:r>
              <a:rPr dirty="0"/>
              <a:t>• Enterprise features: authentication, folders, document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338" y="4991851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</a:defRPr>
            </a:pPr>
            <a:r>
              <a:rPr dirty="0"/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98</TotalTime>
  <Words>809</Words>
  <Application>Microsoft Office PowerPoint</Application>
  <PresentationFormat>On-screen Show (4:3)</PresentationFormat>
  <Paragraphs>157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jk</cp:lastModifiedBy>
  <cp:revision>13</cp:revision>
  <dcterms:created xsi:type="dcterms:W3CDTF">2013-01-27T09:14:16Z</dcterms:created>
  <dcterms:modified xsi:type="dcterms:W3CDTF">2026-01-05T09:36:09Z</dcterms:modified>
  <cp:category/>
</cp:coreProperties>
</file>