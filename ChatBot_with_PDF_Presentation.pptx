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4" d="100"/>
          <a:sy n="74" d="100"/>
        </p:scale>
        <p:origin x="1266" y="5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12/31/2025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12/31/2025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12/31/2025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12/31/2025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12/31/2025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12/31/2025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12/31/2025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12/31/2025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12/31/2025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12/31/2025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12/31/2025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12/31/2025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563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22860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ChatBot with PDF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47472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FFFFFF"/>
                </a:solidFill>
              </a:defRPr>
            </a:pPr>
            <a:r>
              <a:rPr dirty="0"/>
              <a:t>AI-Powered Document Intelligence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81740" y="4533363"/>
            <a:ext cx="3580531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FFFFFF"/>
                </a:solidFill>
              </a:defRPr>
            </a:pPr>
            <a:r>
              <a:rPr lang="en-US" sz="2400" dirty="0"/>
              <a:t>JULIUS GODWIN KANYAMA</a:t>
            </a:r>
            <a:endParaRPr sz="2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889F299-6F0C-40F7-AB09-E7FA0309D357}"/>
              </a:ext>
            </a:extLst>
          </p:cNvPr>
          <p:cNvSpPr txBox="1"/>
          <p:nvPr/>
        </p:nvSpPr>
        <p:spPr>
          <a:xfrm>
            <a:off x="3600131" y="4902695"/>
            <a:ext cx="1428596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FFFFFF"/>
                </a:solidFill>
              </a:defRPr>
            </a:pPr>
            <a:r>
              <a:rPr lang="en-US" sz="2400" dirty="0"/>
              <a:t>20234128</a:t>
            </a:r>
            <a:endParaRPr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F99B1DE-BAFA-469C-A155-1A4B5DE6218E}"/>
              </a:ext>
            </a:extLst>
          </p:cNvPr>
          <p:cNvSpPr txBox="1"/>
          <p:nvPr/>
        </p:nvSpPr>
        <p:spPr>
          <a:xfrm>
            <a:off x="3081368" y="5676666"/>
            <a:ext cx="2981265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FFFFFF"/>
                </a:solidFill>
              </a:defRPr>
            </a:pPr>
            <a:r>
              <a:rPr lang="en-US" sz="2400" dirty="0"/>
              <a:t>DR RAMIZ M. SALAMA</a:t>
            </a:r>
            <a:endParaRPr sz="2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2563EB"/>
                </a:solidFill>
              </a:defRPr>
            </a:pPr>
            <a:r>
              <a:t>Project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7772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2000">
                <a:solidFill>
                  <a:srgbClr val="475569"/>
                </a:solidFill>
              </a:defRPr>
            </a:pPr>
            <a:r>
              <a:t>• An intelligent chatbot that allows users to have conversations with their documents</a:t>
            </a:r>
          </a:p>
          <a:p>
            <a:pPr>
              <a:spcBef>
                <a:spcPts val="1200"/>
              </a:spcBef>
              <a:defRPr sz="2000">
                <a:solidFill>
                  <a:srgbClr val="475569"/>
                </a:solidFill>
              </a:defRPr>
            </a:pPr>
            <a:r>
              <a:t>• Supports multiple formats: PDF, DOCX, PPTX, and images</a:t>
            </a:r>
          </a:p>
          <a:p>
            <a:pPr>
              <a:spcBef>
                <a:spcPts val="1200"/>
              </a:spcBef>
              <a:defRPr sz="2000">
                <a:solidFill>
                  <a:srgbClr val="475569"/>
                </a:solidFill>
              </a:defRPr>
            </a:pPr>
            <a:r>
              <a:t>• Uses AI to understand document content and provide accurate answers</a:t>
            </a:r>
          </a:p>
          <a:p>
            <a:pPr>
              <a:spcBef>
                <a:spcPts val="1200"/>
              </a:spcBef>
              <a:defRPr sz="2000">
                <a:solidFill>
                  <a:srgbClr val="475569"/>
                </a:solidFill>
              </a:defRPr>
            </a:pPr>
            <a:r>
              <a:t>• Features include multi-document chat, folders, and precise page citations</a:t>
            </a:r>
          </a:p>
          <a:p>
            <a:pPr>
              <a:spcBef>
                <a:spcPts val="1200"/>
              </a:spcBef>
              <a:defRPr sz="2000">
                <a:solidFill>
                  <a:srgbClr val="475569"/>
                </a:solidFill>
              </a:defRPr>
            </a:pPr>
            <a:r>
              <a:t>• Built with modern full-stack technologies and RAG (Retrieval-Augmented Generation)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2563EB"/>
                </a:solidFill>
              </a:defRPr>
            </a:pPr>
            <a:r>
              <a:t>System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3657600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FFFFFF"/>
                </a:solidFill>
              </a:defRPr>
            </a:pPr>
            <a:r>
              <a:t>Frontend</a:t>
            </a:r>
          </a:p>
          <a:p>
            <a:pPr>
              <a:defRPr sz="1600">
                <a:solidFill>
                  <a:srgbClr val="FFFFFF"/>
                </a:solidFill>
              </a:defRPr>
            </a:pPr>
            <a:endParaRPr/>
          </a:p>
          <a:p>
            <a:pPr>
              <a:defRPr sz="1600">
                <a:solidFill>
                  <a:srgbClr val="FFFFFF"/>
                </a:solidFill>
              </a:defRPr>
            </a:pPr>
            <a:r>
              <a:t>• React + Vite</a:t>
            </a:r>
          </a:p>
          <a:p>
            <a:pPr>
              <a:defRPr sz="1600">
                <a:solidFill>
                  <a:srgbClr val="FFFFFF"/>
                </a:solidFill>
              </a:defRPr>
            </a:pPr>
            <a:r>
              <a:t>• Tailwind CSS</a:t>
            </a:r>
          </a:p>
          <a:p>
            <a:pPr>
              <a:defRPr sz="1600">
                <a:solidFill>
                  <a:srgbClr val="FFFFFF"/>
                </a:solidFill>
              </a:defRPr>
            </a:pPr>
            <a:r>
              <a:t>• PDF.js Viewer</a:t>
            </a:r>
          </a:p>
          <a:p>
            <a:pPr>
              <a:defRPr sz="1600">
                <a:solidFill>
                  <a:srgbClr val="FFFFFF"/>
                </a:solidFill>
              </a:defRPr>
            </a:pPr>
            <a:r>
              <a:t>• Responsive UI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645920"/>
            <a:ext cx="3657600" cy="1645920"/>
          </a:xfrm>
          <a:prstGeom prst="rect">
            <a:avLst/>
          </a:prstGeom>
          <a:solidFill>
            <a:srgbClr val="2563EB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600" b="0">
                <a:solidFill>
                  <a:srgbClr val="FFFFFF"/>
                </a:solidFill>
              </a:defRPr>
            </a:pPr>
            <a:r>
              <a:t>Frontend</a:t>
            </a:r>
          </a:p>
          <a:p>
            <a:pPr>
              <a:defRPr sz="1600" b="0">
                <a:solidFill>
                  <a:srgbClr val="FFFFFF"/>
                </a:solidFill>
              </a:defRPr>
            </a:pPr>
            <a:endParaRPr/>
          </a:p>
          <a:p>
            <a:pPr>
              <a:defRPr sz="1600" b="0">
                <a:solidFill>
                  <a:srgbClr val="FFFFFF"/>
                </a:solidFill>
              </a:defRPr>
            </a:pPr>
            <a:r>
              <a:t>• React + Vite</a:t>
            </a:r>
          </a:p>
          <a:p>
            <a:pPr>
              <a:defRPr sz="1600" b="0">
                <a:solidFill>
                  <a:srgbClr val="FFFFFF"/>
                </a:solidFill>
              </a:defRPr>
            </a:pPr>
            <a:r>
              <a:t>• Tailwind CSS</a:t>
            </a:r>
          </a:p>
          <a:p>
            <a:pPr>
              <a:defRPr sz="1600" b="0">
                <a:solidFill>
                  <a:srgbClr val="FFFFFF"/>
                </a:solidFill>
              </a:defRPr>
            </a:pPr>
            <a:r>
              <a:t>• PDF.js Viewer</a:t>
            </a:r>
          </a:p>
          <a:p>
            <a:pPr>
              <a:defRPr sz="1600" b="0">
                <a:solidFill>
                  <a:srgbClr val="FFFFFF"/>
                </a:solidFill>
              </a:defRPr>
            </a:pPr>
            <a:r>
              <a:t>• Responsive UI</a:t>
            </a:r>
          </a:p>
        </p:txBody>
      </p:sp>
      <p:sp>
        <p:nvSpPr>
          <p:cNvPr id="5" name="Rectangle 4"/>
          <p:cNvSpPr/>
          <p:nvPr/>
        </p:nvSpPr>
        <p:spPr>
          <a:xfrm>
            <a:off x="4754880" y="1645920"/>
            <a:ext cx="3657600" cy="1645920"/>
          </a:xfrm>
          <a:prstGeom prst="rect">
            <a:avLst/>
          </a:prstGeom>
          <a:solidFill>
            <a:srgbClr val="10B98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600" b="0">
                <a:solidFill>
                  <a:srgbClr val="FFFFFF"/>
                </a:solidFill>
              </a:defRPr>
            </a:pPr>
            <a:r>
              <a:t>Backend</a:t>
            </a:r>
          </a:p>
          <a:p>
            <a:pPr>
              <a:defRPr sz="1600" b="0">
                <a:solidFill>
                  <a:srgbClr val="FFFFFF"/>
                </a:solidFill>
              </a:defRPr>
            </a:pPr>
            <a:endParaRPr/>
          </a:p>
          <a:p>
            <a:pPr>
              <a:defRPr sz="1600" b="0">
                <a:solidFill>
                  <a:srgbClr val="FFFFFF"/>
                </a:solidFill>
              </a:defRPr>
            </a:pPr>
            <a:r>
              <a:t>• Node.js + Express</a:t>
            </a:r>
          </a:p>
          <a:p>
            <a:pPr>
              <a:defRPr sz="1600" b="0">
                <a:solidFill>
                  <a:srgbClr val="FFFFFF"/>
                </a:solidFill>
              </a:defRPr>
            </a:pPr>
            <a:r>
              <a:t>• MongoDB</a:t>
            </a:r>
          </a:p>
          <a:p>
            <a:pPr>
              <a:defRPr sz="1600" b="0">
                <a:solidFill>
                  <a:srgbClr val="FFFFFF"/>
                </a:solidFill>
              </a:defRPr>
            </a:pPr>
            <a:r>
              <a:t>• OpenAI API</a:t>
            </a:r>
          </a:p>
          <a:p>
            <a:pPr>
              <a:defRPr sz="1600" b="0">
                <a:solidFill>
                  <a:srgbClr val="FFFFFF"/>
                </a:solidFill>
              </a:defRPr>
            </a:pPr>
            <a:r>
              <a:t>• JWT Auth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3840480"/>
            <a:ext cx="3657600" cy="1371600"/>
          </a:xfrm>
          <a:prstGeom prst="rect">
            <a:avLst/>
          </a:prstGeom>
          <a:solidFill>
            <a:srgbClr val="475569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600" b="0">
                <a:solidFill>
                  <a:srgbClr val="FFFFFF"/>
                </a:solidFill>
              </a:defRPr>
            </a:pPr>
            <a:r>
              <a:t>Database</a:t>
            </a:r>
          </a:p>
          <a:p>
            <a:pPr>
              <a:defRPr sz="1600" b="0">
                <a:solidFill>
                  <a:srgbClr val="FFFFFF"/>
                </a:solidFill>
              </a:defRPr>
            </a:pPr>
            <a:endParaRPr/>
          </a:p>
          <a:p>
            <a:pPr>
              <a:defRPr sz="1600" b="0">
                <a:solidFill>
                  <a:srgbClr val="FFFFFF"/>
                </a:solidFill>
              </a:defRPr>
            </a:pPr>
            <a:r>
              <a:t>• User Documents</a:t>
            </a:r>
          </a:p>
          <a:p>
            <a:pPr>
              <a:defRPr sz="1600" b="0">
                <a:solidFill>
                  <a:srgbClr val="FFFFFF"/>
                </a:solidFill>
              </a:defRPr>
            </a:pPr>
            <a:r>
              <a:t>• Conversations</a:t>
            </a:r>
          </a:p>
          <a:p>
            <a:pPr>
              <a:defRPr sz="1600" b="0">
                <a:solidFill>
                  <a:srgbClr val="FFFFFF"/>
                </a:solidFill>
              </a:defRPr>
            </a:pPr>
            <a:r>
              <a:t>• Vector Embeddings</a:t>
            </a:r>
          </a:p>
        </p:txBody>
      </p:sp>
      <p:sp>
        <p:nvSpPr>
          <p:cNvPr id="7" name="Rectangle 6"/>
          <p:cNvSpPr/>
          <p:nvPr/>
        </p:nvSpPr>
        <p:spPr>
          <a:xfrm>
            <a:off x="4754880" y="3840480"/>
            <a:ext cx="3657600" cy="1371600"/>
          </a:xfrm>
          <a:prstGeom prst="rect">
            <a:avLst/>
          </a:prstGeom>
          <a:solidFill>
            <a:srgbClr val="A855F7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600" b="0">
                <a:solidFill>
                  <a:srgbClr val="FFFFFF"/>
                </a:solidFill>
              </a:defRPr>
            </a:pPr>
            <a:r>
              <a:t>AI Services</a:t>
            </a:r>
          </a:p>
          <a:p>
            <a:pPr>
              <a:defRPr sz="1600" b="0">
                <a:solidFill>
                  <a:srgbClr val="FFFFFF"/>
                </a:solidFill>
              </a:defRPr>
            </a:pPr>
            <a:endParaRPr/>
          </a:p>
          <a:p>
            <a:pPr>
              <a:defRPr sz="1600" b="0">
                <a:solidFill>
                  <a:srgbClr val="FFFFFF"/>
                </a:solidFill>
              </a:defRPr>
            </a:pPr>
            <a:r>
              <a:t>• GPT-3.5 Turbo</a:t>
            </a:r>
          </a:p>
          <a:p>
            <a:pPr>
              <a:defRPr sz="1600" b="0">
                <a:solidFill>
                  <a:srgbClr val="FFFFFF"/>
                </a:solidFill>
              </a:defRPr>
            </a:pPr>
            <a:r>
              <a:t>• Text Embeddings</a:t>
            </a:r>
          </a:p>
          <a:p>
            <a:pPr>
              <a:defRPr sz="1600" b="0">
                <a:solidFill>
                  <a:srgbClr val="FFFFFF"/>
                </a:solidFill>
              </a:defRPr>
            </a:pPr>
            <a:r>
              <a:t>• GPT-4 Vision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2563EB"/>
                </a:solidFill>
              </a:defRPr>
            </a:pPr>
            <a:r>
              <a:t>How It Works: Document Upload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645920"/>
            <a:ext cx="7315200" cy="640080"/>
          </a:xfrm>
          <a:prstGeom prst="rect">
            <a:avLst/>
          </a:prstGeom>
          <a:solidFill>
            <a:srgbClr val="2563EB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600" b="1">
                <a:solidFill>
                  <a:srgbClr val="FFFFFF"/>
                </a:solidFill>
              </a:defRPr>
            </a:pPr>
            <a:r>
              <a:t>1. Upload: User uploads PDF, DOCX, PPTX, or image file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2423160"/>
            <a:ext cx="7315200" cy="640080"/>
          </a:xfrm>
          <a:prstGeom prst="rect">
            <a:avLst/>
          </a:prstGeom>
          <a:solidFill>
            <a:srgbClr val="10B98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600" b="1">
                <a:solidFill>
                  <a:srgbClr val="FFFFFF"/>
                </a:solidFill>
              </a:defRPr>
            </a:pPr>
            <a:r>
              <a:t>2. Processing: Extract text using pdf-parse, Mammoth, or Tesseract OCR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3200400"/>
            <a:ext cx="7315200" cy="640080"/>
          </a:xfrm>
          <a:prstGeom prst="rect">
            <a:avLst/>
          </a:prstGeom>
          <a:solidFill>
            <a:srgbClr val="2563EB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600" b="1">
                <a:solidFill>
                  <a:srgbClr val="FFFFFF"/>
                </a:solidFill>
              </a:defRPr>
            </a:pPr>
            <a:r>
              <a:t>3. Chunking: Split text into 800-token chunks with 100-token overlap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3977639"/>
            <a:ext cx="7315200" cy="640080"/>
          </a:xfrm>
          <a:prstGeom prst="rect">
            <a:avLst/>
          </a:prstGeom>
          <a:solidFill>
            <a:srgbClr val="10B98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600" b="1">
                <a:solidFill>
                  <a:srgbClr val="FFFFFF"/>
                </a:solidFill>
              </a:defRPr>
            </a:pPr>
            <a:r>
              <a:t>4. Embedding: Generate vector embeddings using OpenAI API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4754879"/>
            <a:ext cx="7315200" cy="640080"/>
          </a:xfrm>
          <a:prstGeom prst="rect">
            <a:avLst/>
          </a:prstGeom>
          <a:solidFill>
            <a:srgbClr val="2563EB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600" b="1">
                <a:solidFill>
                  <a:srgbClr val="FFFFFF"/>
                </a:solidFill>
              </a:defRPr>
            </a:pPr>
            <a:r>
              <a:t>5. Storage: Save document metadata and embeddings to MongoDB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5532119"/>
            <a:ext cx="7315200" cy="640080"/>
          </a:xfrm>
          <a:prstGeom prst="rect">
            <a:avLst/>
          </a:prstGeom>
          <a:solidFill>
            <a:srgbClr val="10B98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600" b="1">
                <a:solidFill>
                  <a:srgbClr val="FFFFFF"/>
                </a:solidFill>
              </a:defRPr>
            </a:pPr>
            <a:r>
              <a:t>6. Ready: Document is now ready for intelligent Q&amp;A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2563EB"/>
                </a:solidFill>
              </a:defRPr>
            </a:pPr>
            <a:r>
              <a:t>How It Works: Chat Processing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1800">
                <a:solidFill>
                  <a:srgbClr val="475569"/>
                </a:solidFill>
              </a:defRPr>
            </a:pPr>
            <a:r>
              <a:t>1. User types a question about the document</a:t>
            </a:r>
          </a:p>
          <a:p>
            <a:pPr>
              <a:spcBef>
                <a:spcPts val="800"/>
              </a:spcBef>
              <a:defRPr sz="1800">
                <a:solidFill>
                  <a:srgbClr val="475569"/>
                </a:solidFill>
              </a:defRPr>
            </a:pPr>
            <a:r>
              <a:t>2. System classifies question (document-related or general knowledge)</a:t>
            </a:r>
          </a:p>
          <a:p>
            <a:pPr>
              <a:spcBef>
                <a:spcPts val="800"/>
              </a:spcBef>
              <a:defRPr sz="1800">
                <a:solidFill>
                  <a:srgbClr val="475569"/>
                </a:solidFill>
              </a:defRPr>
            </a:pPr>
            <a:r>
              <a:t>3. Detects page references (e.g., 'page 5', 'slide 10')</a:t>
            </a:r>
          </a:p>
          <a:p>
            <a:pPr>
              <a:spcBef>
                <a:spcPts val="800"/>
              </a:spcBef>
              <a:defRPr sz="1800">
                <a:solidFill>
                  <a:srgbClr val="475569"/>
                </a:solidFill>
              </a:defRPr>
            </a:pPr>
            <a:r>
              <a:t>4. Generates embedding vector for the question</a:t>
            </a:r>
          </a:p>
          <a:p>
            <a:pPr>
              <a:spcBef>
                <a:spcPts val="800"/>
              </a:spcBef>
              <a:defRPr sz="1800">
                <a:solidFill>
                  <a:srgbClr val="475569"/>
                </a:solidFill>
              </a:defRPr>
            </a:pPr>
            <a:r>
              <a:t>5. Searches document embeddings using cosine similarity</a:t>
            </a:r>
          </a:p>
          <a:p>
            <a:pPr>
              <a:spcBef>
                <a:spcPts val="800"/>
              </a:spcBef>
              <a:defRPr sz="1800">
                <a:solidFill>
                  <a:srgbClr val="475569"/>
                </a:solidFill>
              </a:defRPr>
            </a:pPr>
            <a:r>
              <a:t>6. Retrieves top 15 most relevant text chunks</a:t>
            </a:r>
          </a:p>
          <a:p>
            <a:pPr>
              <a:spcBef>
                <a:spcPts val="800"/>
              </a:spcBef>
              <a:defRPr sz="1800">
                <a:solidFill>
                  <a:srgbClr val="475569"/>
                </a:solidFill>
              </a:defRPr>
            </a:pPr>
            <a:r>
              <a:t>7. Builds context with chunk content + page numbers</a:t>
            </a:r>
          </a:p>
          <a:p>
            <a:pPr>
              <a:spcBef>
                <a:spcPts val="800"/>
              </a:spcBef>
              <a:defRPr sz="1800">
                <a:solidFill>
                  <a:srgbClr val="475569"/>
                </a:solidFill>
              </a:defRPr>
            </a:pPr>
            <a:r>
              <a:t>8. Sends context + question to GPT-3.5 Turbo</a:t>
            </a:r>
          </a:p>
          <a:p>
            <a:pPr>
              <a:spcBef>
                <a:spcPts val="800"/>
              </a:spcBef>
              <a:defRPr sz="1800">
                <a:solidFill>
                  <a:srgbClr val="475569"/>
                </a:solidFill>
              </a:defRPr>
            </a:pPr>
            <a:r>
              <a:t>9. AI generates answer with mandatory page citations</a:t>
            </a:r>
          </a:p>
          <a:p>
            <a:pPr>
              <a:spcBef>
                <a:spcPts val="800"/>
              </a:spcBef>
              <a:defRPr sz="1800">
                <a:solidFill>
                  <a:srgbClr val="475569"/>
                </a:solidFill>
              </a:defRPr>
            </a:pPr>
            <a:r>
              <a:t>10. Returns response with clickable citations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457200"/>
            <a:ext cx="9144000" cy="12618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800" b="1">
                <a:solidFill>
                  <a:srgbClr val="2563EB"/>
                </a:solidFill>
              </a:defRPr>
            </a:pPr>
            <a:r>
              <a:rPr dirty="0"/>
              <a:t>RAG System</a:t>
            </a:r>
            <a:endParaRPr lang="en-US" dirty="0"/>
          </a:p>
          <a:p>
            <a:pPr>
              <a:defRPr sz="3800" b="1">
                <a:solidFill>
                  <a:srgbClr val="2563EB"/>
                </a:solidFill>
              </a:defRPr>
            </a:pPr>
            <a:r>
              <a:rPr dirty="0"/>
              <a:t> (Retrieval-Augmented Generation)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719084"/>
            <a:ext cx="7772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i="1">
                <a:solidFill>
                  <a:srgbClr val="475569"/>
                </a:solidFill>
              </a:defRPr>
            </a:pPr>
            <a:r>
              <a:rPr dirty="0"/>
              <a:t>RAG combines information retrieval with AI generation to provide accurate, context-aware answers from your documents.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474720"/>
            <a:ext cx="77724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475569"/>
                </a:solidFill>
              </a:defRPr>
            </a:pPr>
            <a:r>
              <a:rPr dirty="0"/>
              <a:t>Retrieval: Semantic search finds relevant document sections</a:t>
            </a:r>
          </a:p>
          <a:p>
            <a:pPr lvl="1">
              <a:defRPr sz="1600">
                <a:solidFill>
                  <a:srgbClr val="475569"/>
                </a:solidFill>
              </a:defRPr>
            </a:pPr>
            <a:r>
              <a:rPr dirty="0"/>
              <a:t>  • Uses vector embeddings (1536 dimensions)</a:t>
            </a:r>
          </a:p>
          <a:p>
            <a:pPr lvl="1">
              <a:defRPr sz="1600">
                <a:solidFill>
                  <a:srgbClr val="475569"/>
                </a:solidFill>
              </a:defRPr>
            </a:pPr>
            <a:r>
              <a:rPr dirty="0"/>
              <a:t>  • Cosine similarity matching (threshold: 0.7)</a:t>
            </a:r>
          </a:p>
          <a:p>
            <a:pPr lvl="1">
              <a:defRPr sz="1600">
                <a:solidFill>
                  <a:srgbClr val="475569"/>
                </a:solidFill>
              </a:defRPr>
            </a:pPr>
            <a:r>
              <a:rPr dirty="0"/>
              <a:t>  • Returns top 15 chunks ranked by relevance</a:t>
            </a:r>
          </a:p>
          <a:p>
            <a:endParaRPr dirty="0"/>
          </a:p>
          <a:p>
            <a:pPr>
              <a:defRPr sz="1800" b="1">
                <a:solidFill>
                  <a:srgbClr val="475569"/>
                </a:solidFill>
              </a:defRPr>
            </a:pPr>
            <a:r>
              <a:rPr dirty="0"/>
              <a:t>Augmentation: Retrieved content enhances AI's knowledge</a:t>
            </a:r>
          </a:p>
          <a:p>
            <a:pPr lvl="1">
              <a:defRPr sz="1600">
                <a:solidFill>
                  <a:srgbClr val="475569"/>
                </a:solidFill>
              </a:defRPr>
            </a:pPr>
            <a:r>
              <a:rPr dirty="0"/>
              <a:t>  • Adds document context to the AI prompt</a:t>
            </a:r>
          </a:p>
          <a:p>
            <a:pPr lvl="1">
              <a:defRPr sz="1600">
                <a:solidFill>
                  <a:srgbClr val="475569"/>
                </a:solidFill>
              </a:defRPr>
            </a:pPr>
            <a:r>
              <a:rPr dirty="0"/>
              <a:t>  • Includes page numbers and metadata</a:t>
            </a:r>
          </a:p>
          <a:p>
            <a:endParaRPr dirty="0"/>
          </a:p>
          <a:p>
            <a:pPr>
              <a:defRPr sz="1800" b="1">
                <a:solidFill>
                  <a:srgbClr val="475569"/>
                </a:solidFill>
              </a:defRPr>
            </a:pPr>
            <a:r>
              <a:rPr dirty="0"/>
              <a:t>Generation: AI creates accurate, cited responses</a:t>
            </a:r>
          </a:p>
          <a:p>
            <a:pPr lvl="1">
              <a:defRPr sz="1600">
                <a:solidFill>
                  <a:srgbClr val="475569"/>
                </a:solidFill>
              </a:defRPr>
            </a:pPr>
            <a:r>
              <a:rPr dirty="0"/>
              <a:t>  • GPT-3.5 Turbo with temperature=0 (deterministic)</a:t>
            </a:r>
          </a:p>
          <a:p>
            <a:pPr lvl="1">
              <a:defRPr sz="1600">
                <a:solidFill>
                  <a:srgbClr val="475569"/>
                </a:solidFill>
              </a:defRPr>
            </a:pPr>
            <a:r>
              <a:rPr dirty="0"/>
              <a:t>  • Mandatory citation format enforced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2563EB"/>
                </a:solidFill>
              </a:defRPr>
            </a:pPr>
            <a:r>
              <a:t>Multi-Document Chat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10B981"/>
                </a:solidFill>
              </a:defRPr>
            </a:pPr>
            <a:r>
              <a:t>Folder Organization</a:t>
            </a:r>
          </a:p>
          <a:p>
            <a:pPr lvl="1">
              <a:defRPr sz="1600">
                <a:solidFill>
                  <a:srgbClr val="475569"/>
                </a:solidFill>
              </a:defRPr>
            </a:pPr>
            <a:r>
              <a:t>  • Group related documents into folders</a:t>
            </a:r>
          </a:p>
          <a:p>
            <a:pPr lvl="1">
              <a:defRPr sz="1600">
                <a:solidFill>
                  <a:srgbClr val="475569"/>
                </a:solidFill>
              </a:defRPr>
            </a:pPr>
            <a:r>
              <a:t>  • Drag-and-drop document management</a:t>
            </a:r>
          </a:p>
          <a:p>
            <a:endParaRPr/>
          </a:p>
          <a:p>
            <a:pPr>
              <a:defRPr sz="2000" b="1">
                <a:solidFill>
                  <a:srgbClr val="10B981"/>
                </a:solidFill>
              </a:defRPr>
            </a:pPr>
            <a:r>
              <a:t>Parallel Search</a:t>
            </a:r>
          </a:p>
          <a:p>
            <a:pPr lvl="1">
              <a:defRPr sz="1600">
                <a:solidFill>
                  <a:srgbClr val="475569"/>
                </a:solidFill>
              </a:defRPr>
            </a:pPr>
            <a:r>
              <a:t>  • Searches all documents in folder simultaneously</a:t>
            </a:r>
          </a:p>
          <a:p>
            <a:pPr lvl="1">
              <a:defRPr sz="1600">
                <a:solidFill>
                  <a:srgbClr val="475569"/>
                </a:solidFill>
              </a:defRPr>
            </a:pPr>
            <a:r>
              <a:t>  • Retrieves top 10 chunks from each document</a:t>
            </a:r>
          </a:p>
          <a:p>
            <a:pPr lvl="1">
              <a:defRPr sz="1600">
                <a:solidFill>
                  <a:srgbClr val="475569"/>
                </a:solidFill>
              </a:defRPr>
            </a:pPr>
            <a:r>
              <a:t>  • Selects best 15 chunks across all documents</a:t>
            </a:r>
          </a:p>
          <a:p>
            <a:endParaRPr/>
          </a:p>
          <a:p>
            <a:pPr>
              <a:defRPr sz="2000" b="1">
                <a:solidFill>
                  <a:srgbClr val="10B981"/>
                </a:solidFill>
              </a:defRPr>
            </a:pPr>
            <a:r>
              <a:t>Source Attribution</a:t>
            </a:r>
          </a:p>
          <a:p>
            <a:pPr lvl="1">
              <a:defRPr sz="1600">
                <a:solidFill>
                  <a:srgbClr val="475569"/>
                </a:solidFill>
              </a:defRPr>
            </a:pPr>
            <a:r>
              <a:t>  • Citations include document name + page number</a:t>
            </a:r>
          </a:p>
          <a:p>
            <a:pPr lvl="1">
              <a:defRPr sz="1600">
                <a:solidFill>
                  <a:srgbClr val="475569"/>
                </a:solidFill>
              </a:defRPr>
            </a:pPr>
            <a:r>
              <a:t>  • Example: [research_paper.pdf - Page 12]</a:t>
            </a:r>
          </a:p>
          <a:p>
            <a:pPr lvl="1">
              <a:defRPr sz="1600">
                <a:solidFill>
                  <a:srgbClr val="475569"/>
                </a:solidFill>
              </a:defRPr>
            </a:pPr>
            <a:r>
              <a:t>  • Click citation to view exact source</a:t>
            </a:r>
          </a:p>
          <a:p>
            <a:endParaRPr/>
          </a:p>
          <a:p>
            <a:pPr>
              <a:defRPr sz="2000" b="1">
                <a:solidFill>
                  <a:srgbClr val="10B981"/>
                </a:solidFill>
              </a:defRPr>
            </a:pPr>
            <a:r>
              <a:t>Smart Document Mapping</a:t>
            </a:r>
          </a:p>
          <a:p>
            <a:pPr lvl="1">
              <a:defRPr sz="1600">
                <a:solidFill>
                  <a:srgbClr val="475569"/>
                </a:solidFill>
              </a:defRPr>
            </a:pPr>
            <a:r>
              <a:t>  • Ensures citations reference correct document</a:t>
            </a:r>
          </a:p>
          <a:p>
            <a:pPr lvl="1">
              <a:defRPr sz="1600">
                <a:solidFill>
                  <a:srgbClr val="475569"/>
                </a:solidFill>
              </a:defRPr>
            </a:pPr>
            <a:r>
              <a:t>  • Handles MongoDB query ordering correctly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2563EB"/>
                </a:solidFill>
              </a:defRPr>
            </a:pPr>
            <a:r>
              <a:t>Intelligent Citation 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7772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475569"/>
                </a:solidFill>
              </a:defRPr>
            </a:pPr>
            <a:r>
              <a:t>Three Citation Formats:</a:t>
            </a:r>
          </a:p>
          <a:p>
            <a:pPr>
              <a:spcBef>
                <a:spcPts val="1000"/>
              </a:spcBef>
              <a:defRPr sz="1800">
                <a:solidFill>
                  <a:srgbClr val="475569"/>
                </a:solidFill>
              </a:defRPr>
            </a:pPr>
            <a:r>
              <a:t>• Single Document: [Page 5] or [Slide 10]</a:t>
            </a:r>
          </a:p>
          <a:p>
            <a:pPr>
              <a:spcBef>
                <a:spcPts val="1000"/>
              </a:spcBef>
              <a:defRPr sz="1800">
                <a:solidFill>
                  <a:srgbClr val="475569"/>
                </a:solidFill>
              </a:defRPr>
            </a:pPr>
            <a:r>
              <a:t>• Multi-Document: [filename.pdf - Page 5]</a:t>
            </a:r>
          </a:p>
          <a:p>
            <a:pPr>
              <a:spcBef>
                <a:spcPts val="1000"/>
              </a:spcBef>
              <a:defRPr sz="1800">
                <a:solidFill>
                  <a:srgbClr val="475569"/>
                </a:solidFill>
              </a:defRPr>
            </a:pPr>
            <a:r>
              <a:t>• Natural Language: 'as mentioned on page 31...'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931920"/>
            <a:ext cx="7772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475569"/>
                </a:solidFill>
              </a:defRPr>
            </a:pPr>
            <a:r>
              <a:t>Key Features:</a:t>
            </a:r>
          </a:p>
          <a:p>
            <a:pPr>
              <a:spcBef>
                <a:spcPts val="1000"/>
              </a:spcBef>
              <a:defRPr sz="1800">
                <a:solidFill>
                  <a:srgbClr val="475569"/>
                </a:solidFill>
              </a:defRPr>
            </a:pPr>
            <a:r>
              <a:t>• All citations are clickable - jump directly to source page</a:t>
            </a:r>
          </a:p>
          <a:p>
            <a:pPr>
              <a:spcBef>
                <a:spcPts val="1000"/>
              </a:spcBef>
              <a:defRPr sz="1800">
                <a:solidFill>
                  <a:srgbClr val="475569"/>
                </a:solidFill>
              </a:defRPr>
            </a:pPr>
            <a:r>
              <a:t>• AI is required to include citations in every response</a:t>
            </a:r>
          </a:p>
          <a:p>
            <a:pPr>
              <a:spcBef>
                <a:spcPts val="1000"/>
              </a:spcBef>
              <a:defRPr sz="1800">
                <a:solidFill>
                  <a:srgbClr val="475569"/>
                </a:solidFill>
              </a:defRPr>
            </a:pPr>
            <a:r>
              <a:t>• Page numbers extracted from document metadata</a:t>
            </a:r>
          </a:p>
          <a:p>
            <a:pPr>
              <a:spcBef>
                <a:spcPts val="1000"/>
              </a:spcBef>
              <a:defRPr sz="1800">
                <a:solidFill>
                  <a:srgbClr val="475569"/>
                </a:solidFill>
              </a:defRPr>
            </a:pPr>
            <a:r>
              <a:t>• Regex parsing identifies and formats citations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2563EB"/>
                </a:solidFill>
              </a:defRPr>
            </a:pPr>
            <a:r>
              <a:t>Technology Stack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3657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2563EB"/>
                </a:solidFill>
              </a:defRPr>
            </a:pPr>
            <a:r>
              <a:t>Frontend</a:t>
            </a:r>
          </a:p>
          <a:p>
            <a:pPr>
              <a:defRPr sz="1600">
                <a:solidFill>
                  <a:srgbClr val="475569"/>
                </a:solidFill>
              </a:defRPr>
            </a:pPr>
            <a:r>
              <a:t>• React 18</a:t>
            </a:r>
          </a:p>
          <a:p>
            <a:pPr>
              <a:defRPr sz="1600">
                <a:solidFill>
                  <a:srgbClr val="475569"/>
                </a:solidFill>
              </a:defRPr>
            </a:pPr>
            <a:r>
              <a:t>• Vite (Build Tool)</a:t>
            </a:r>
          </a:p>
          <a:p>
            <a:pPr>
              <a:defRPr sz="1600">
                <a:solidFill>
                  <a:srgbClr val="475569"/>
                </a:solidFill>
              </a:defRPr>
            </a:pPr>
            <a:r>
              <a:t>• Tailwind CSS</a:t>
            </a:r>
          </a:p>
          <a:p>
            <a:pPr>
              <a:defRPr sz="1600">
                <a:solidFill>
                  <a:srgbClr val="475569"/>
                </a:solidFill>
              </a:defRPr>
            </a:pPr>
            <a:r>
              <a:t>• PDF.js</a:t>
            </a:r>
          </a:p>
          <a:p>
            <a:pPr>
              <a:defRPr sz="1600">
                <a:solidFill>
                  <a:srgbClr val="475569"/>
                </a:solidFill>
              </a:defRPr>
            </a:pPr>
            <a:r>
              <a:t>• Mammoth.js (DOCX)</a:t>
            </a:r>
          </a:p>
          <a:p>
            <a:pPr>
              <a:defRPr sz="1600">
                <a:solidFill>
                  <a:srgbClr val="475569"/>
                </a:solidFill>
              </a:defRPr>
            </a:pPr>
            <a:r>
              <a:t>• Framer Motion</a:t>
            </a:r>
          </a:p>
          <a:p>
            <a:pPr>
              <a:defRPr sz="1600">
                <a:solidFill>
                  <a:srgbClr val="475569"/>
                </a:solidFill>
              </a:defRPr>
            </a:pPr>
            <a:r>
              <a:t>• React Router</a:t>
            </a:r>
          </a:p>
          <a:p>
            <a:pPr>
              <a:defRPr sz="1600">
                <a:solidFill>
                  <a:srgbClr val="475569"/>
                </a:solidFill>
              </a:defRPr>
            </a:pPr>
            <a:r>
              <a:t>• Axios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0" y="1463040"/>
            <a:ext cx="3657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2563EB"/>
                </a:solidFill>
              </a:defRPr>
            </a:pPr>
            <a:r>
              <a:t>Backend &amp; AI</a:t>
            </a:r>
          </a:p>
          <a:p>
            <a:pPr>
              <a:defRPr sz="1600">
                <a:solidFill>
                  <a:srgbClr val="475569"/>
                </a:solidFill>
              </a:defRPr>
            </a:pPr>
            <a:r>
              <a:t>• Node.js + Express</a:t>
            </a:r>
          </a:p>
          <a:p>
            <a:pPr>
              <a:defRPr sz="1600">
                <a:solidFill>
                  <a:srgbClr val="475569"/>
                </a:solidFill>
              </a:defRPr>
            </a:pPr>
            <a:r>
              <a:t>• MongoDB + Mongoose</a:t>
            </a:r>
          </a:p>
          <a:p>
            <a:pPr>
              <a:defRPr sz="1600">
                <a:solidFill>
                  <a:srgbClr val="475569"/>
                </a:solidFill>
              </a:defRPr>
            </a:pPr>
            <a:r>
              <a:t>• OpenAI GPT-3.5 Turbo</a:t>
            </a:r>
          </a:p>
          <a:p>
            <a:pPr>
              <a:defRPr sz="1600">
                <a:solidFill>
                  <a:srgbClr val="475569"/>
                </a:solidFill>
              </a:defRPr>
            </a:pPr>
            <a:r>
              <a:t>• OpenAI Embeddings</a:t>
            </a:r>
          </a:p>
          <a:p>
            <a:pPr>
              <a:defRPr sz="1600">
                <a:solidFill>
                  <a:srgbClr val="475569"/>
                </a:solidFill>
              </a:defRPr>
            </a:pPr>
            <a:r>
              <a:t>• GPT-4 Vision</a:t>
            </a:r>
          </a:p>
          <a:p>
            <a:pPr>
              <a:defRPr sz="1600">
                <a:solidFill>
                  <a:srgbClr val="475569"/>
                </a:solidFill>
              </a:defRPr>
            </a:pPr>
            <a:r>
              <a:t>• JWT Authentication</a:t>
            </a:r>
          </a:p>
          <a:p>
            <a:pPr>
              <a:defRPr sz="1600">
                <a:solidFill>
                  <a:srgbClr val="475569"/>
                </a:solidFill>
              </a:defRPr>
            </a:pPr>
            <a:r>
              <a:t>• pdf-parse</a:t>
            </a:r>
          </a:p>
          <a:p>
            <a:pPr>
              <a:defRPr sz="1600">
                <a:solidFill>
                  <a:srgbClr val="475569"/>
                </a:solidFill>
              </a:defRPr>
            </a:pPr>
            <a:r>
              <a:t>• Tesseract.js (OCR)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2563EB"/>
                </a:solidFill>
              </a:defRPr>
            </a:pPr>
            <a:r>
              <a:t>Output: Chat Interface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475569"/>
                </a:solidFill>
              </a:defRPr>
            </a:pPr>
            <a:r>
              <a:t>Split-View Layout</a:t>
            </a:r>
          </a:p>
          <a:p>
            <a:pPr lvl="1">
              <a:defRPr sz="1600">
                <a:solidFill>
                  <a:srgbClr val="475569"/>
                </a:solidFill>
              </a:defRPr>
            </a:pPr>
            <a:r>
              <a:t>  • Document viewer on left, chat on right</a:t>
            </a:r>
          </a:p>
          <a:p>
            <a:pPr lvl="1">
              <a:defRPr sz="1600">
                <a:solidFill>
                  <a:srgbClr val="475569"/>
                </a:solidFill>
              </a:defRPr>
            </a:pPr>
            <a:r>
              <a:t>  • Resizable panels for flexible viewing</a:t>
            </a:r>
          </a:p>
          <a:p>
            <a:endParaRPr/>
          </a:p>
          <a:p>
            <a:pPr>
              <a:defRPr sz="2000" b="1">
                <a:solidFill>
                  <a:srgbClr val="475569"/>
                </a:solidFill>
              </a:defRPr>
            </a:pPr>
            <a:r>
              <a:t>Real-Time Responses</a:t>
            </a:r>
          </a:p>
          <a:p>
            <a:pPr lvl="1">
              <a:defRPr sz="1600">
                <a:solidFill>
                  <a:srgbClr val="475569"/>
                </a:solidFill>
              </a:defRPr>
            </a:pPr>
            <a:r>
              <a:t>  • Type question and get instant AI-generated answer</a:t>
            </a:r>
          </a:p>
          <a:p>
            <a:pPr lvl="1">
              <a:defRPr sz="1600">
                <a:solidFill>
                  <a:srgbClr val="475569"/>
                </a:solidFill>
              </a:defRPr>
            </a:pPr>
            <a:r>
              <a:t>  • Loading indicator during processing</a:t>
            </a:r>
          </a:p>
          <a:p>
            <a:endParaRPr/>
          </a:p>
          <a:p>
            <a:pPr>
              <a:defRPr sz="2000" b="1">
                <a:solidFill>
                  <a:srgbClr val="475569"/>
                </a:solidFill>
              </a:defRPr>
            </a:pPr>
            <a:r>
              <a:t>Message History</a:t>
            </a:r>
          </a:p>
          <a:p>
            <a:pPr lvl="1">
              <a:defRPr sz="1600">
                <a:solidFill>
                  <a:srgbClr val="475569"/>
                </a:solidFill>
              </a:defRPr>
            </a:pPr>
            <a:r>
              <a:t>  • Complete conversation history saved</a:t>
            </a:r>
          </a:p>
          <a:p>
            <a:pPr lvl="1">
              <a:defRPr sz="1600">
                <a:solidFill>
                  <a:srgbClr val="475569"/>
                </a:solidFill>
              </a:defRPr>
            </a:pPr>
            <a:r>
              <a:t>  • Context-aware responses using last 10 messages</a:t>
            </a:r>
          </a:p>
          <a:p>
            <a:endParaRPr/>
          </a:p>
          <a:p>
            <a:pPr>
              <a:defRPr sz="2000" b="1">
                <a:solidFill>
                  <a:srgbClr val="475569"/>
                </a:solidFill>
              </a:defRPr>
            </a:pPr>
            <a:r>
              <a:t>Interactive Features</a:t>
            </a:r>
          </a:p>
          <a:p>
            <a:pPr lvl="1">
              <a:defRPr sz="1600">
                <a:solidFill>
                  <a:srgbClr val="475569"/>
                </a:solidFill>
              </a:defRPr>
            </a:pPr>
            <a:r>
              <a:t>  • Click citations to navigate to source pages</a:t>
            </a:r>
          </a:p>
          <a:p>
            <a:pPr lvl="1">
              <a:defRPr sz="1600">
                <a:solidFill>
                  <a:srgbClr val="475569"/>
                </a:solidFill>
              </a:defRPr>
            </a:pPr>
            <a:r>
              <a:t>  • Markdown formatting support</a:t>
            </a:r>
          </a:p>
          <a:p>
            <a:pPr lvl="1">
              <a:defRPr sz="1600">
                <a:solidFill>
                  <a:srgbClr val="475569"/>
                </a:solidFill>
              </a:defRPr>
            </a:pPr>
            <a:r>
              <a:t>  • Copy/paste functionality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2563EB"/>
                </a:solidFill>
              </a:defRPr>
            </a:pPr>
            <a:r>
              <a:t>Output: Document Management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475569"/>
                </a:solidFill>
              </a:defRPr>
            </a:pPr>
            <a:r>
              <a:t>Document Library</a:t>
            </a:r>
          </a:p>
          <a:p>
            <a:pPr lvl="1">
              <a:defRPr sz="1600">
                <a:solidFill>
                  <a:srgbClr val="475569"/>
                </a:solidFill>
              </a:defRPr>
            </a:pPr>
            <a:r>
              <a:t>  • View all uploaded documents</a:t>
            </a:r>
          </a:p>
          <a:p>
            <a:pPr lvl="1">
              <a:defRPr sz="1600">
                <a:solidFill>
                  <a:srgbClr val="475569"/>
                </a:solidFill>
              </a:defRPr>
            </a:pPr>
            <a:r>
              <a:t>  • Shows file name, page count, upload date</a:t>
            </a:r>
          </a:p>
          <a:p>
            <a:pPr lvl="1">
              <a:defRPr sz="1600">
                <a:solidFill>
                  <a:srgbClr val="475569"/>
                </a:solidFill>
              </a:defRPr>
            </a:pPr>
            <a:r>
              <a:t>  • Search and filter capabilities</a:t>
            </a:r>
          </a:p>
          <a:p>
            <a:endParaRPr/>
          </a:p>
          <a:p>
            <a:pPr>
              <a:defRPr sz="2000" b="1">
                <a:solidFill>
                  <a:srgbClr val="475569"/>
                </a:solidFill>
              </a:defRPr>
            </a:pPr>
            <a:r>
              <a:t>Folder System</a:t>
            </a:r>
          </a:p>
          <a:p>
            <a:pPr lvl="1">
              <a:defRPr sz="1600">
                <a:solidFill>
                  <a:srgbClr val="475569"/>
                </a:solidFill>
              </a:defRPr>
            </a:pPr>
            <a:r>
              <a:t>  • Create folders to organize documents</a:t>
            </a:r>
          </a:p>
          <a:p>
            <a:pPr lvl="1">
              <a:defRPr sz="1600">
                <a:solidFill>
                  <a:srgbClr val="475569"/>
                </a:solidFill>
              </a:defRPr>
            </a:pPr>
            <a:r>
              <a:t>  • Drag-and-drop to move documents</a:t>
            </a:r>
          </a:p>
          <a:p>
            <a:pPr lvl="1">
              <a:defRPr sz="1600">
                <a:solidFill>
                  <a:srgbClr val="475569"/>
                </a:solidFill>
              </a:defRPr>
            </a:pPr>
            <a:r>
              <a:t>  • Rename, delete, and manage folders</a:t>
            </a:r>
          </a:p>
          <a:p>
            <a:endParaRPr/>
          </a:p>
          <a:p>
            <a:pPr>
              <a:defRPr sz="2000" b="1">
                <a:solidFill>
                  <a:srgbClr val="475569"/>
                </a:solidFill>
              </a:defRPr>
            </a:pPr>
            <a:r>
              <a:t>Document Actions</a:t>
            </a:r>
          </a:p>
          <a:p>
            <a:pPr lvl="1">
              <a:defRPr sz="1600">
                <a:solidFill>
                  <a:srgbClr val="475569"/>
                </a:solidFill>
              </a:defRPr>
            </a:pPr>
            <a:r>
              <a:t>  • Rename documents</a:t>
            </a:r>
          </a:p>
          <a:p>
            <a:pPr lvl="1">
              <a:defRPr sz="1600">
                <a:solidFill>
                  <a:srgbClr val="475569"/>
                </a:solidFill>
              </a:defRPr>
            </a:pPr>
            <a:r>
              <a:t>  • Delete documents</a:t>
            </a:r>
          </a:p>
          <a:p>
            <a:pPr lvl="1">
              <a:defRPr sz="1600">
                <a:solidFill>
                  <a:srgbClr val="475569"/>
                </a:solidFill>
              </a:defRPr>
            </a:pPr>
            <a:r>
              <a:t>  • Reset chat history</a:t>
            </a:r>
          </a:p>
          <a:p>
            <a:pPr lvl="1">
              <a:defRPr sz="1600">
                <a:solidFill>
                  <a:srgbClr val="475569"/>
                </a:solidFill>
              </a:defRPr>
            </a:pPr>
            <a:r>
              <a:t>  • Download original file</a:t>
            </a:r>
          </a:p>
          <a:p>
            <a:endParaRPr/>
          </a:p>
          <a:p>
            <a:pPr>
              <a:defRPr sz="2000" b="1">
                <a:solidFill>
                  <a:srgbClr val="475569"/>
                </a:solidFill>
              </a:defRPr>
            </a:pPr>
            <a:r>
              <a:t>Multi-Format Support</a:t>
            </a:r>
          </a:p>
          <a:p>
            <a:pPr lvl="1">
              <a:defRPr sz="1600">
                <a:solidFill>
                  <a:srgbClr val="475569"/>
                </a:solidFill>
              </a:defRPr>
            </a:pPr>
            <a:r>
              <a:t>  • PDF, DOCX, PPTX, and images</a:t>
            </a:r>
          </a:p>
          <a:p>
            <a:pPr lvl="1">
              <a:defRPr sz="1600">
                <a:solidFill>
                  <a:srgbClr val="475569"/>
                </a:solidFill>
              </a:defRPr>
            </a:pPr>
            <a:r>
              <a:t>  • Automatic format detection and rendering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2563EB"/>
                </a:solidFill>
              </a:defRPr>
            </a:pPr>
            <a:r>
              <a:t>Advanced Features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645920"/>
            <a:ext cx="7772400" cy="777240"/>
          </a:xfrm>
          <a:prstGeom prst="rect">
            <a:avLst/>
          </a:prstGeom>
          <a:solidFill>
            <a:srgbClr val="F1F5F9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2563EB"/>
                </a:solidFill>
              </a:defRPr>
            </a:pPr>
            <a:r>
              <a:t>Image Extraction &amp; Captioning</a:t>
            </a:r>
          </a:p>
          <a:p>
            <a:pPr>
              <a:defRPr sz="1400">
                <a:solidFill>
                  <a:srgbClr val="475569"/>
                </a:solidFill>
              </a:defRPr>
            </a:pPr>
            <a:r>
              <a:t>Extracts images from PDFs and generates searchable captions using GPT-4 Vision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2560320"/>
            <a:ext cx="7772400" cy="777240"/>
          </a:xfrm>
          <a:prstGeom prst="rect">
            <a:avLst/>
          </a:prstGeom>
          <a:solidFill>
            <a:srgbClr val="F1F5F9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2563EB"/>
                </a:solidFill>
              </a:defRPr>
            </a:pPr>
            <a:r>
              <a:t>Page-Specific Retrieval</a:t>
            </a:r>
          </a:p>
          <a:p>
            <a:pPr>
              <a:defRPr sz="1400">
                <a:solidFill>
                  <a:srgbClr val="475569"/>
                </a:solidFill>
              </a:defRPr>
            </a:pPr>
            <a:r>
              <a:t>Detects 'page 5' or 'slide 10' in questions and retrieves only relevant pages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3474720"/>
            <a:ext cx="7772400" cy="777240"/>
          </a:xfrm>
          <a:prstGeom prst="rect">
            <a:avLst/>
          </a:prstGeom>
          <a:solidFill>
            <a:srgbClr val="F1F5F9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2563EB"/>
                </a:solidFill>
              </a:defRPr>
            </a:pPr>
            <a:r>
              <a:t>Question Classification</a:t>
            </a:r>
          </a:p>
          <a:p>
            <a:pPr>
              <a:defRPr sz="1400">
                <a:solidFill>
                  <a:srgbClr val="475569"/>
                </a:solidFill>
              </a:defRPr>
            </a:pPr>
            <a:r>
              <a:t>Determines if question is document-related or general knowledge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4389120"/>
            <a:ext cx="7772400" cy="777240"/>
          </a:xfrm>
          <a:prstGeom prst="rect">
            <a:avLst/>
          </a:prstGeom>
          <a:solidFill>
            <a:srgbClr val="F1F5F9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2563EB"/>
                </a:solidFill>
              </a:defRPr>
            </a:pPr>
            <a:r>
              <a:t>Multi-Language Support</a:t>
            </a:r>
          </a:p>
          <a:p>
            <a:pPr>
              <a:defRPr sz="1400">
                <a:solidFill>
                  <a:srgbClr val="475569"/>
                </a:solidFill>
              </a:defRPr>
            </a:pPr>
            <a:r>
              <a:t>English and Turkish language interface with auto-detection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5303520"/>
            <a:ext cx="7772400" cy="777240"/>
          </a:xfrm>
          <a:prstGeom prst="rect">
            <a:avLst/>
          </a:prstGeom>
          <a:solidFill>
            <a:srgbClr val="F1F5F9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2563EB"/>
                </a:solidFill>
              </a:defRPr>
            </a:pPr>
            <a:r>
              <a:t>Secure Authentication</a:t>
            </a:r>
          </a:p>
          <a:p>
            <a:pPr>
              <a:defRPr sz="1400">
                <a:solidFill>
                  <a:srgbClr val="475569"/>
                </a:solidFill>
              </a:defRPr>
            </a:pPr>
            <a:r>
              <a:t>JWT-based authentication with bcrypt password hashing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2563EB"/>
                </a:solidFill>
              </a:defRPr>
            </a:pPr>
            <a:r>
              <a:t>System Performance &amp; Accuracy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475569"/>
                </a:solidFill>
              </a:defRPr>
            </a:pPr>
            <a:r>
              <a:t>Retrieval Accuracy</a:t>
            </a:r>
          </a:p>
          <a:p>
            <a:pPr lvl="1">
              <a:defRPr sz="1600">
                <a:solidFill>
                  <a:srgbClr val="475569"/>
                </a:solidFill>
              </a:defRPr>
            </a:pPr>
            <a:r>
              <a:t>  • Cosine similarity threshold: 0.7</a:t>
            </a:r>
          </a:p>
          <a:p>
            <a:pPr lvl="1">
              <a:defRPr sz="1600">
                <a:solidFill>
                  <a:srgbClr val="475569"/>
                </a:solidFill>
              </a:defRPr>
            </a:pPr>
            <a:r>
              <a:t>  • Top 15 most relevant chunks retrieved</a:t>
            </a:r>
          </a:p>
          <a:p>
            <a:pPr lvl="1">
              <a:defRPr sz="1600">
                <a:solidFill>
                  <a:srgbClr val="475569"/>
                </a:solidFill>
              </a:defRPr>
            </a:pPr>
            <a:r>
              <a:t>  • Average response time: 2-3 seconds</a:t>
            </a:r>
          </a:p>
          <a:p>
            <a:endParaRPr/>
          </a:p>
          <a:p>
            <a:pPr>
              <a:defRPr sz="2000" b="1">
                <a:solidFill>
                  <a:srgbClr val="475569"/>
                </a:solidFill>
              </a:defRPr>
            </a:pPr>
            <a:r>
              <a:t>Citation Accuracy</a:t>
            </a:r>
          </a:p>
          <a:p>
            <a:pPr lvl="1">
              <a:defRPr sz="1600">
                <a:solidFill>
                  <a:srgbClr val="475569"/>
                </a:solidFill>
              </a:defRPr>
            </a:pPr>
            <a:r>
              <a:t>  • 100% citation requirement enforced</a:t>
            </a:r>
          </a:p>
          <a:p>
            <a:pPr lvl="1">
              <a:defRPr sz="1600">
                <a:solidFill>
                  <a:srgbClr val="475569"/>
                </a:solidFill>
              </a:defRPr>
            </a:pPr>
            <a:r>
              <a:t>  • Page numbers verified against source documents</a:t>
            </a:r>
          </a:p>
          <a:p>
            <a:pPr lvl="1">
              <a:defRPr sz="1600">
                <a:solidFill>
                  <a:srgbClr val="475569"/>
                </a:solidFill>
              </a:defRPr>
            </a:pPr>
            <a:r>
              <a:t>  • Multi-document source attribution working correctly</a:t>
            </a:r>
          </a:p>
          <a:p>
            <a:endParaRPr/>
          </a:p>
          <a:p>
            <a:pPr>
              <a:defRPr sz="2000" b="1">
                <a:solidFill>
                  <a:srgbClr val="475569"/>
                </a:solidFill>
              </a:defRPr>
            </a:pPr>
            <a:r>
              <a:t>Scalability</a:t>
            </a:r>
          </a:p>
          <a:p>
            <a:pPr lvl="1">
              <a:defRPr sz="1600">
                <a:solidFill>
                  <a:srgbClr val="475569"/>
                </a:solidFill>
              </a:defRPr>
            </a:pPr>
            <a:r>
              <a:t>  • Vector embeddings cached in database</a:t>
            </a:r>
          </a:p>
          <a:p>
            <a:pPr lvl="1">
              <a:defRPr sz="1600">
                <a:solidFill>
                  <a:srgbClr val="475569"/>
                </a:solidFill>
              </a:defRPr>
            </a:pPr>
            <a:r>
              <a:t>  • Batch embedding generation (100 per API call)</a:t>
            </a:r>
          </a:p>
          <a:p>
            <a:pPr lvl="1">
              <a:defRPr sz="1600">
                <a:solidFill>
                  <a:srgbClr val="475569"/>
                </a:solidFill>
              </a:defRPr>
            </a:pPr>
            <a:r>
              <a:t>  • Async processing for document uploads</a:t>
            </a:r>
          </a:p>
          <a:p>
            <a:endParaRPr/>
          </a:p>
          <a:p>
            <a:pPr>
              <a:defRPr sz="2000" b="1">
                <a:solidFill>
                  <a:srgbClr val="475569"/>
                </a:solidFill>
              </a:defRPr>
            </a:pPr>
            <a:r>
              <a:t>User Experience</a:t>
            </a:r>
          </a:p>
          <a:p>
            <a:pPr lvl="1">
              <a:defRPr sz="1600">
                <a:solidFill>
                  <a:srgbClr val="475569"/>
                </a:solidFill>
              </a:defRPr>
            </a:pPr>
            <a:r>
              <a:t>  • Responsive design for all screen sizes</a:t>
            </a:r>
          </a:p>
          <a:p>
            <a:pPr lvl="1">
              <a:defRPr sz="1600">
                <a:solidFill>
                  <a:srgbClr val="475569"/>
                </a:solidFill>
              </a:defRPr>
            </a:pPr>
            <a:r>
              <a:t>  • Real-time loading indicators</a:t>
            </a:r>
          </a:p>
          <a:p>
            <a:pPr lvl="1">
              <a:defRPr sz="1600">
                <a:solidFill>
                  <a:srgbClr val="475569"/>
                </a:solidFill>
              </a:defRPr>
            </a:pPr>
            <a:r>
              <a:t>  • Smooth transitions and animations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9144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2563EB"/>
                </a:solidFill>
              </a:defRPr>
            </a:pPr>
            <a:r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73152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800"/>
              </a:spcBef>
              <a:defRPr sz="2000">
                <a:solidFill>
                  <a:srgbClr val="475569"/>
                </a:solidFill>
              </a:defRPr>
            </a:pPr>
            <a:r>
              <a:t>• Successfully implemented a production-ready AI chatbot system</a:t>
            </a:r>
          </a:p>
          <a:p>
            <a:endParaRPr/>
          </a:p>
          <a:p>
            <a:pPr algn="l">
              <a:spcBef>
                <a:spcPts val="800"/>
              </a:spcBef>
              <a:defRPr sz="2000">
                <a:solidFill>
                  <a:srgbClr val="475569"/>
                </a:solidFill>
              </a:defRPr>
            </a:pPr>
            <a:r>
              <a:t>• Demonstrates full-stack development with modern technologies</a:t>
            </a:r>
          </a:p>
          <a:p>
            <a:endParaRPr/>
          </a:p>
          <a:p>
            <a:pPr algn="l">
              <a:spcBef>
                <a:spcPts val="800"/>
              </a:spcBef>
              <a:defRPr sz="2000">
                <a:solidFill>
                  <a:srgbClr val="475569"/>
                </a:solidFill>
              </a:defRPr>
            </a:pPr>
            <a:r>
              <a:t>• Advanced RAG system with semantic search and citations</a:t>
            </a:r>
          </a:p>
          <a:p>
            <a:endParaRPr/>
          </a:p>
          <a:p>
            <a:pPr algn="l">
              <a:spcBef>
                <a:spcPts val="800"/>
              </a:spcBef>
              <a:defRPr sz="2000">
                <a:solidFill>
                  <a:srgbClr val="475569"/>
                </a:solidFill>
              </a:defRPr>
            </a:pPr>
            <a:r>
              <a:t>• Multi-document chat with accurate source attribution</a:t>
            </a:r>
          </a:p>
          <a:p>
            <a:endParaRPr/>
          </a:p>
          <a:p>
            <a:pPr algn="l">
              <a:spcBef>
                <a:spcPts val="800"/>
              </a:spcBef>
              <a:defRPr sz="2000">
                <a:solidFill>
                  <a:srgbClr val="475569"/>
                </a:solidFill>
              </a:defRPr>
            </a:pPr>
            <a:r>
              <a:t>• Enterprise features: authentication, folders, document management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66928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2563EB"/>
                </a:solidFill>
              </a:defRPr>
            </a:pPr>
            <a:r>
              <a:t>Thank You!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35</TotalTime>
  <Words>1057</Words>
  <Application>Microsoft Office PowerPoint</Application>
  <PresentationFormat>On-screen Show (4:3)</PresentationFormat>
  <Paragraphs>199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>generated using python-pptx</dc:description>
  <cp:lastModifiedBy>jk</cp:lastModifiedBy>
  <cp:revision>4</cp:revision>
  <dcterms:created xsi:type="dcterms:W3CDTF">2013-01-27T09:14:16Z</dcterms:created>
  <dcterms:modified xsi:type="dcterms:W3CDTF">2025-12-31T13:51:26Z</dcterms:modified>
  <cp:category/>
</cp:coreProperties>
</file>